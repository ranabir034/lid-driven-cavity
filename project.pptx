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7" r:id="rId7"/>
    <p:sldId id="262" r:id="rId8"/>
    <p:sldId id="268" r:id="rId9"/>
    <p:sldId id="265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74"/>
    <p:restoredTop sz="96132"/>
  </p:normalViewPr>
  <p:slideViewPr>
    <p:cSldViewPr snapToGrid="0">
      <p:cViewPr varScale="1">
        <p:scale>
          <a:sx n="124" d="100"/>
          <a:sy n="124" d="100"/>
        </p:scale>
        <p:origin x="408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6CBDD-2425-4A46-84B5-44179DE6F507}" type="datetimeFigureOut">
              <a:rPr lang="en-US" smtClean="0"/>
              <a:t>5/12/25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D3CA22-9BCA-4549-81D1-B5A49FEDD2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19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5E3639C-C662-5BB3-2654-507903E270BA}"/>
              </a:ext>
            </a:extLst>
          </p:cNvPr>
          <p:cNvSpPr/>
          <p:nvPr userDrawn="1"/>
        </p:nvSpPr>
        <p:spPr>
          <a:xfrm>
            <a:off x="543338" y="749772"/>
            <a:ext cx="11105322" cy="1997727"/>
          </a:xfrm>
          <a:prstGeom prst="roundRect">
            <a:avLst/>
          </a:prstGeom>
          <a:solidFill>
            <a:srgbClr val="C00000"/>
          </a:solidFill>
          <a:ln>
            <a:noFill/>
          </a:ln>
          <a:effectLst>
            <a:outerShdw blurRad="50800" dist="50800" dir="5400000" sx="100431" sy="100431" algn="ctr" rotWithShape="0">
              <a:srgbClr val="000000">
                <a:alpha val="3622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5F682A-3B65-BFE9-EAC1-0B862A67D4A9}"/>
              </a:ext>
            </a:extLst>
          </p:cNvPr>
          <p:cNvSpPr txBox="1"/>
          <p:nvPr userDrawn="1"/>
        </p:nvSpPr>
        <p:spPr>
          <a:xfrm>
            <a:off x="1636966" y="1067083"/>
            <a:ext cx="891808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ME/AERE 5470 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</a:rPr>
              <a:t>Project: Pressure-Based Solver (incompressible flow)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F5120D-D0BB-2ACE-DA33-9FE3FB131A0E}"/>
              </a:ext>
            </a:extLst>
          </p:cNvPr>
          <p:cNvSpPr txBox="1"/>
          <p:nvPr userDrawn="1"/>
        </p:nvSpPr>
        <p:spPr>
          <a:xfrm>
            <a:off x="5188540" y="3206876"/>
            <a:ext cx="1814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Ranabir Saha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61140A-F24D-59EC-0C73-48C66AE38D54}"/>
              </a:ext>
            </a:extLst>
          </p:cNvPr>
          <p:cNvSpPr txBox="1"/>
          <p:nvPr userDrawn="1"/>
        </p:nvSpPr>
        <p:spPr>
          <a:xfrm>
            <a:off x="3552993" y="3795432"/>
            <a:ext cx="508600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Graduate Research Assistant</a:t>
            </a:r>
          </a:p>
          <a:p>
            <a:pPr algn="ctr"/>
            <a:r>
              <a:rPr lang="en-US" sz="2400" dirty="0"/>
              <a:t>Department of Mechanical Engineering</a:t>
            </a:r>
          </a:p>
          <a:p>
            <a:pPr algn="ctr"/>
            <a:r>
              <a:rPr lang="en-US" sz="2400" dirty="0"/>
              <a:t>Iowa State University</a:t>
            </a:r>
          </a:p>
          <a:p>
            <a:pPr algn="ctr"/>
            <a:r>
              <a:rPr lang="en-US" sz="2400" i="1" dirty="0" err="1"/>
              <a:t>ranabir@iastate.edu</a:t>
            </a:r>
            <a:endParaRPr lang="en-US" sz="2400" i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8B71F5-FE0E-9E80-FF5D-6E6981682509}"/>
              </a:ext>
            </a:extLst>
          </p:cNvPr>
          <p:cNvSpPr txBox="1"/>
          <p:nvPr userDrawn="1"/>
        </p:nvSpPr>
        <p:spPr>
          <a:xfrm>
            <a:off x="5163691" y="5501304"/>
            <a:ext cx="1975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aseline="0" dirty="0"/>
              <a:t>12</a:t>
            </a:r>
            <a:r>
              <a:rPr lang="en-US" sz="2400" baseline="30000" dirty="0"/>
              <a:t>th</a:t>
            </a:r>
            <a:r>
              <a:rPr lang="en-US" sz="2400" baseline="0" dirty="0"/>
              <a:t> May</a:t>
            </a:r>
            <a:r>
              <a:rPr lang="en-US" sz="2400" dirty="0"/>
              <a:t> 2025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C909D5-9DE6-9E48-5399-788E366FE651}"/>
              </a:ext>
            </a:extLst>
          </p:cNvPr>
          <p:cNvSpPr/>
          <p:nvPr userDrawn="1"/>
        </p:nvSpPr>
        <p:spPr>
          <a:xfrm>
            <a:off x="-10511" y="6716110"/>
            <a:ext cx="4198135" cy="152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Iowa State University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0783C5-61AB-6C40-7533-00312F813B8A}"/>
              </a:ext>
            </a:extLst>
          </p:cNvPr>
          <p:cNvSpPr/>
          <p:nvPr userDrawn="1"/>
        </p:nvSpPr>
        <p:spPr>
          <a:xfrm>
            <a:off x="4187624" y="6716110"/>
            <a:ext cx="4198135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C00000"/>
                </a:solidFill>
              </a:rPr>
              <a:t>CFD-2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D07E1F-6ADF-DFFA-A1B8-2EE5E40B0E56}"/>
              </a:ext>
            </a:extLst>
          </p:cNvPr>
          <p:cNvSpPr/>
          <p:nvPr userDrawn="1"/>
        </p:nvSpPr>
        <p:spPr>
          <a:xfrm>
            <a:off x="8385759" y="6716110"/>
            <a:ext cx="3806241" cy="1524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aseline="0" dirty="0">
                <a:solidFill>
                  <a:srgbClr val="C00000"/>
                </a:solidFill>
              </a:rPr>
              <a:t>12</a:t>
            </a:r>
            <a:r>
              <a:rPr lang="en-US" sz="1100" baseline="30000" dirty="0">
                <a:solidFill>
                  <a:srgbClr val="C00000"/>
                </a:solidFill>
              </a:rPr>
              <a:t>th</a:t>
            </a:r>
            <a:r>
              <a:rPr lang="en-US" sz="1100" dirty="0">
                <a:solidFill>
                  <a:srgbClr val="C00000"/>
                </a:solidFill>
              </a:rPr>
              <a:t> May 2025</a:t>
            </a:r>
          </a:p>
        </p:txBody>
      </p:sp>
    </p:spTree>
    <p:extLst>
      <p:ext uri="{BB962C8B-B14F-4D97-AF65-F5344CB8AC3E}">
        <p14:creationId xmlns:p14="http://schemas.microsoft.com/office/powerpoint/2010/main" val="742777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939B8-5300-E140-A3AE-5BD42272C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21145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2D6F8-D301-F58C-CB75-A07129BFD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30B4B-6D93-30F3-1DA8-DB190B041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C64A-9371-A64F-9B82-EBC50BB3F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430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0FF14-7878-28E8-A639-7629309A6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8A6D3-59AF-FB76-2513-B97752244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C8B58-23B4-5C00-1B78-ACB297736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DEE40-A7BD-164D-AF5E-B9056C582606}" type="datetime1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85800-FB92-35F6-F5DA-7711CE023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1F0F3-2036-54B9-187A-2A7DB3747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C64A-9371-A64F-9B82-EBC50BB3F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391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F586A-A6AE-5AC1-7563-AD8F61FE4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0F91D-79EF-9CC6-0512-AA8FA7DB9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3AD1F1-EC0A-EB18-6151-26DD1DEA4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58ED0B-137E-3EFC-D5AC-D1EF99369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C6137-BB69-CD44-A4B8-E415EE77B0C3}" type="datetime1">
              <a:rPr lang="en-US" smtClean="0"/>
              <a:t>5/12/25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4AB04-EB80-80E4-44C6-651535A96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6F5A8-71C0-1EFE-3BB8-E23C59DF9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C64A-9371-A64F-9B82-EBC50BB3F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969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16AAA-B914-00E8-8544-3328F94D2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4F996-87A3-DBDA-E51D-C05EB0CEE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53200-6547-798D-18AE-82DDAC8C72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1E2467-0568-08AE-8E88-BE8C1619AA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40032A-56C1-1A9C-1D46-67D3AB77C6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A68BE9-9CBB-9CDF-6906-CDA0B9B58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AA3A3-FCEA-B94D-A839-A4250426BBDA}" type="datetime1">
              <a:rPr lang="en-US" smtClean="0"/>
              <a:t>5/12/25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4F2D3D-BDA2-B320-B33A-F78C2520E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4DB678-D07A-4350-7C8C-7A1A69229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C64A-9371-A64F-9B82-EBC50BB3F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463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2576-B185-1360-3F26-DF52CED75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018213-593E-D1E9-6F10-6D2DFA741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CDCF5-3414-B942-BC3B-EEDA7F6E36AE}" type="datetime1">
              <a:rPr lang="en-US" smtClean="0"/>
              <a:t>5/12/25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B6C384-3B9A-92FA-55BD-DBF72767D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6DDED2-E0FF-FBBF-9E07-D2A1E2F6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C64A-9371-A64F-9B82-EBC50BB3F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90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9EEB7-3237-B5E7-31F6-1882EF95D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99120-19D7-B94E-924F-68C7F4D09DEB}" type="datetime1">
              <a:rPr lang="en-US" smtClean="0"/>
              <a:t>5/12/25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C05F6F-CF55-40A2-6335-2E333EC72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11761-BD16-5844-914D-6D1B313AD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C64A-9371-A64F-9B82-EBC50BB3F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335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FD73D-62D0-1BE0-260C-2E76C346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DEDD3-DAB0-18F5-AA1D-EE5C1C660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ED28F7-7425-D052-E888-9F2BB28EA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12A1F-8E75-5ECB-6A5D-F33D30B9E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6D980-5323-3049-BAF4-FEE82DDEFF3D}" type="datetime1">
              <a:rPr lang="en-US" smtClean="0"/>
              <a:t>5/12/25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5CE438-5D7C-E169-392B-0B51041D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B2B15-1AEE-412C-6933-4D078C374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C64A-9371-A64F-9B82-EBC50BB3F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786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8A9FF-47A1-8CDA-F117-C6600DE2F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9262F0-B48A-E41E-F5BD-9974C3AD1E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260D73-04F6-BBE0-7843-72F579858B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0293F-7366-7F0A-B495-33CDF8E73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7385F-98FB-9841-9092-9814991372F6}" type="datetime1">
              <a:rPr lang="en-US" smtClean="0"/>
              <a:t>5/12/25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6CC7F-5761-D678-2ED4-AC6815682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BCB5E-A594-EC40-55D9-89AC71A95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C64A-9371-A64F-9B82-EBC50BB3F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504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9D30A-1742-4C21-FE70-8D3E06D5B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6FC3E9-0059-22B8-5662-126D3682D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089D2-8954-1269-5C02-7948B0B16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FEDA6-CCE1-5E4E-9280-58320646B242}" type="datetime1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91A90-C0A6-66AD-F78F-C088CA2F0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04BCA-17B8-D954-6AE6-9651618C9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C64A-9371-A64F-9B82-EBC50BB3F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37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44FC5F-4486-0D78-E38C-6ADCE54094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214FFD-FA50-90F3-0C4C-7B00E6276E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5AE53-F03B-28B0-3F47-E41CA2782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2CBEB-73E9-3447-BD7A-F7833002B84F}" type="datetime1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32F0B-13B8-39D9-D9E1-C54D1E84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38FC3-6324-00B8-DF97-4CC5C0963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C64A-9371-A64F-9B82-EBC50BB3F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30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5F8B3-D763-F7D1-C234-93BCD94BB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7F65F6-45A4-8112-CB66-AE4791AAC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DF53C-0BA8-11DD-1EEE-DBCC4A417C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D4E95F-0CB5-3E0D-D783-39D106C0455F}"/>
              </a:ext>
            </a:extLst>
          </p:cNvPr>
          <p:cNvSpPr/>
          <p:nvPr userDrawn="1"/>
        </p:nvSpPr>
        <p:spPr>
          <a:xfrm>
            <a:off x="0" y="126124"/>
            <a:ext cx="12192000" cy="104052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CBE008-E0F2-5CEB-E81F-C84F6E1F3F58}"/>
              </a:ext>
            </a:extLst>
          </p:cNvPr>
          <p:cNvSpPr/>
          <p:nvPr userDrawn="1"/>
        </p:nvSpPr>
        <p:spPr>
          <a:xfrm>
            <a:off x="-10511" y="6716110"/>
            <a:ext cx="4198135" cy="152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Iowa State University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628561-AB2B-291E-25C6-D5228A1D17DC}"/>
              </a:ext>
            </a:extLst>
          </p:cNvPr>
          <p:cNvSpPr/>
          <p:nvPr userDrawn="1"/>
        </p:nvSpPr>
        <p:spPr>
          <a:xfrm>
            <a:off x="4187624" y="6716110"/>
            <a:ext cx="4198135" cy="152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C00000"/>
                </a:solidFill>
              </a:rPr>
              <a:t>CFD-2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67AB7-1662-6B23-E32C-F7EDE42A5F03}"/>
              </a:ext>
            </a:extLst>
          </p:cNvPr>
          <p:cNvSpPr/>
          <p:nvPr userDrawn="1"/>
        </p:nvSpPr>
        <p:spPr>
          <a:xfrm>
            <a:off x="8385759" y="6716110"/>
            <a:ext cx="3806241" cy="1524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C0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E3873-4F25-104E-BF5F-5ACCB8D569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8984" y="6609747"/>
            <a:ext cx="838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C00000"/>
                </a:solidFill>
              </a:defRPr>
            </a:lvl1pPr>
          </a:lstStyle>
          <a:p>
            <a:fld id="{5DCE0F00-16D3-AB43-B496-ECB860084F74}" type="datetime1">
              <a:rPr lang="en-US" smtClean="0"/>
              <a:pPr/>
              <a:t>5/12/25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53EA-AB02-671A-D234-F2E08C1946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605230"/>
            <a:ext cx="6306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C00000"/>
                </a:solidFill>
              </a:defRPr>
            </a:lvl1pPr>
          </a:lstStyle>
          <a:p>
            <a:fld id="{5799C64A-9371-A64F-9B82-EBC50BB3FAB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040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880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AAE67-6CE2-724C-7BA9-E6443F707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45076-8B39-097A-2612-77F01B608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C64A-9371-A64F-9B82-EBC50BB3FABD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CBA90A-E31A-D0C6-CC4C-7A90C0B9C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2269" y="2233514"/>
            <a:ext cx="3248807" cy="20873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555BDE-8111-4E0F-B048-8F3A76A473AA}"/>
              </a:ext>
            </a:extLst>
          </p:cNvPr>
          <p:cNvSpPr txBox="1"/>
          <p:nvPr/>
        </p:nvSpPr>
        <p:spPr>
          <a:xfrm>
            <a:off x="105103" y="1843950"/>
            <a:ext cx="828215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classical benchmark problem in CFD, involving incompressible Navier-Stokes equations in a square domain with a moving top lid</a:t>
            </a:r>
          </a:p>
          <a:p>
            <a:pPr marL="285750" indent="-285750" algn="just">
              <a:buFont typeface="Wingdings" pitchFamily="2" charset="2"/>
              <a:buChar char="Ø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Develop a robust numerical solver using the SIMPLE algorithm</a:t>
            </a:r>
          </a:p>
          <a:p>
            <a:pPr marL="285750" indent="-285750" algn="just">
              <a:buFont typeface="Wingdings" pitchFamily="2" charset="2"/>
              <a:buChar char="Ø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Visualize the flow patterns through pressure contours, velocity vectors, and streamlines</a:t>
            </a:r>
          </a:p>
          <a:p>
            <a:pPr marL="285750" indent="-285750" algn="just">
              <a:buFont typeface="Wingdings" pitchFamily="2" charset="2"/>
              <a:buChar char="Ø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Document challenges and solutions encountered during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302993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D0ABE-32D7-6609-D5DF-2F261D4A8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7264F-8D45-A703-E7A4-98545894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C64A-9371-A64F-9B82-EBC50BB3FABD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88EAE74-E395-7055-A539-B71B479E84CB}"/>
                  </a:ext>
                </a:extLst>
              </p:cNvPr>
              <p:cNvSpPr txBox="1"/>
              <p:nvPr/>
            </p:nvSpPr>
            <p:spPr>
              <a:xfrm>
                <a:off x="4779375" y="2760538"/>
                <a:ext cx="1338700" cy="5740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88EAE74-E395-7055-A539-B71B479E8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9375" y="2760538"/>
                <a:ext cx="1338700" cy="574003"/>
              </a:xfrm>
              <a:prstGeom prst="rect">
                <a:avLst/>
              </a:prstGeom>
              <a:blipFill>
                <a:blip r:embed="rId2"/>
                <a:stretch>
                  <a:fillRect l="-3774" t="-2174" r="-3774"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714EAD-30FE-FC8E-F58E-BB5DD358E512}"/>
                  </a:ext>
                </a:extLst>
              </p:cNvPr>
              <p:cNvSpPr txBox="1"/>
              <p:nvPr/>
            </p:nvSpPr>
            <p:spPr>
              <a:xfrm>
                <a:off x="3516764" y="3482933"/>
                <a:ext cx="4190442" cy="6279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714EAD-30FE-FC8E-F58E-BB5DD358E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764" y="3482933"/>
                <a:ext cx="4190442" cy="627992"/>
              </a:xfrm>
              <a:prstGeom prst="rect">
                <a:avLst/>
              </a:prstGeom>
              <a:blipFill>
                <a:blip r:embed="rId3"/>
                <a:stretch>
                  <a:fillRect l="-906" b="-1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F8033A-4C60-0838-1A69-FF9B868AD8BB}"/>
                  </a:ext>
                </a:extLst>
              </p:cNvPr>
              <p:cNvSpPr txBox="1"/>
              <p:nvPr/>
            </p:nvSpPr>
            <p:spPr>
              <a:xfrm>
                <a:off x="3516764" y="4259317"/>
                <a:ext cx="4190442" cy="6279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F8033A-4C60-0838-1A69-FF9B868AD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764" y="4259317"/>
                <a:ext cx="4190442" cy="627992"/>
              </a:xfrm>
              <a:prstGeom prst="rect">
                <a:avLst/>
              </a:prstGeom>
              <a:blipFill>
                <a:blip r:embed="rId4"/>
                <a:stretch>
                  <a:fillRect l="-604" b="-1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AE2E70B-F71D-28D6-A4CF-95405E4C3FC8}"/>
              </a:ext>
            </a:extLst>
          </p:cNvPr>
          <p:cNvSpPr txBox="1"/>
          <p:nvPr/>
        </p:nvSpPr>
        <p:spPr>
          <a:xfrm>
            <a:off x="0" y="2144124"/>
            <a:ext cx="6686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Incompressible Navier-Stokes equations for 2D steady flow are: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025893-DA8A-E2A1-BF68-1EFB0202BC0D}"/>
                  </a:ext>
                </a:extLst>
              </p:cNvPr>
              <p:cNvSpPr txBox="1"/>
              <p:nvPr/>
            </p:nvSpPr>
            <p:spPr>
              <a:xfrm>
                <a:off x="216516" y="5213399"/>
                <a:ext cx="1180311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Where ‘u’ and ‘v’ are the velocity components, ‘p’ is pressure,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=1.0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kg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b="0" i="0" baseline="30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density,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dynamic viscosity, determined by Re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U</a:t>
                </a:r>
                <a:r>
                  <a:rPr lang="en-US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lid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L/</a:t>
                </a:r>
                <a:r>
                  <a:rPr lang="en-US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 with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</a:t>
                </a:r>
                <a:r>
                  <a:rPr lang="en-US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lid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=1.0m/s and L = 1.0 m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025893-DA8A-E2A1-BF68-1EFB0202B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16" y="5213399"/>
                <a:ext cx="11803117" cy="646331"/>
              </a:xfrm>
              <a:prstGeom prst="rect">
                <a:avLst/>
              </a:prstGeom>
              <a:blipFill>
                <a:blip r:embed="rId5"/>
                <a:stretch>
                  <a:fillRect l="-538" t="-3846" r="-430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45E4DA79-D24C-4FFF-E21C-88196483154E}"/>
              </a:ext>
            </a:extLst>
          </p:cNvPr>
          <p:cNvSpPr txBox="1"/>
          <p:nvPr/>
        </p:nvSpPr>
        <p:spPr>
          <a:xfrm>
            <a:off x="0" y="1427081"/>
            <a:ext cx="2627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Governing Equations</a:t>
            </a:r>
          </a:p>
        </p:txBody>
      </p:sp>
    </p:spTree>
    <p:extLst>
      <p:ext uri="{BB962C8B-B14F-4D97-AF65-F5344CB8AC3E}">
        <p14:creationId xmlns:p14="http://schemas.microsoft.com/office/powerpoint/2010/main" val="4018539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D0ABE-32D7-6609-D5DF-2F261D4A8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7264F-8D45-A703-E7A4-98545894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C64A-9371-A64F-9B82-EBC50BB3FABD}" type="slidenum">
              <a:rPr lang="en-US" smtClean="0"/>
              <a:t>4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E4DA79-D24C-4FFF-E21C-88196483154E}"/>
              </a:ext>
            </a:extLst>
          </p:cNvPr>
          <p:cNvSpPr txBox="1"/>
          <p:nvPr/>
        </p:nvSpPr>
        <p:spPr>
          <a:xfrm>
            <a:off x="0" y="1427081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Discretization</a:t>
            </a:r>
          </a:p>
        </p:txBody>
      </p:sp>
      <p:pic>
        <p:nvPicPr>
          <p:cNvPr id="1026" name="Picture 2" descr="Staggered grid used in the discretization | Download Scientific Diagram">
            <a:extLst>
              <a:ext uri="{FF2B5EF4-FFF2-40B4-BE49-F238E27FC236}">
                <a16:creationId xmlns:a16="http://schemas.microsoft.com/office/drawing/2014/main" id="{EF312D9D-FD04-9113-D307-8BB26BB1B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65" y="1569706"/>
            <a:ext cx="2228038" cy="1677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C976CB-C01E-54BE-4373-6910A7C3500C}"/>
              </a:ext>
            </a:extLst>
          </p:cNvPr>
          <p:cNvSpPr txBox="1"/>
          <p:nvPr/>
        </p:nvSpPr>
        <p:spPr>
          <a:xfrm>
            <a:off x="683173" y="1808536"/>
            <a:ext cx="62488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domain is discretized on a staggered grid with 100x100 cells.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Pressure(p) at the cell centers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U-velocity at vertical cell faces (NX+1, NY)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V-velocity at horizontal cell faces (NX, NY+1)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B8726C-A351-EB7F-5A8A-61D089DDFD42}"/>
              </a:ext>
            </a:extLst>
          </p:cNvPr>
          <p:cNvSpPr txBox="1"/>
          <p:nvPr/>
        </p:nvSpPr>
        <p:spPr>
          <a:xfrm>
            <a:off x="-1" y="3244334"/>
            <a:ext cx="2345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SIMPLE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A9E9BA-017A-CB0F-8BA3-9D0B05ECFC4B}"/>
                  </a:ext>
                </a:extLst>
              </p:cNvPr>
              <p:cNvSpPr txBox="1"/>
              <p:nvPr/>
            </p:nvSpPr>
            <p:spPr>
              <a:xfrm>
                <a:off x="683173" y="3849135"/>
                <a:ext cx="9373079" cy="17971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Solve the momentum equations for intermediate velocities u* and v* using guessed pressure p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Compute the pressure p’ by solving Poisson equation derived from continuity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Update velocities and pressure: u=u*+correction, v=v*+correction, p=p+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Repeat until convergence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r>
                  <a:rPr lang="en-US" dirty="0"/>
                  <a:t>Under-relaxation factors are used: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=0.7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=0.3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A9E9BA-017A-CB0F-8BA3-9D0B05ECF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173" y="3849135"/>
                <a:ext cx="9373079" cy="1797159"/>
              </a:xfrm>
              <a:prstGeom prst="rect">
                <a:avLst/>
              </a:prstGeom>
              <a:blipFill>
                <a:blip r:embed="rId3"/>
                <a:stretch>
                  <a:fillRect l="-541" t="-1399" b="-3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3789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D0ABE-32D7-6609-D5DF-2F261D4A8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7264F-8D45-A703-E7A4-98545894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C64A-9371-A64F-9B82-EBC50BB3FABD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6C1B44-A101-E775-437A-D013032F751A}"/>
              </a:ext>
            </a:extLst>
          </p:cNvPr>
          <p:cNvSpPr txBox="1"/>
          <p:nvPr/>
        </p:nvSpPr>
        <p:spPr>
          <a:xfrm>
            <a:off x="0" y="1427081"/>
            <a:ext cx="2537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Power-Law Scheme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9BE519-A6B2-4C6F-FC20-EE6830AF7BE2}"/>
                  </a:ext>
                </a:extLst>
              </p:cNvPr>
              <p:cNvSpPr txBox="1"/>
              <p:nvPr/>
            </p:nvSpPr>
            <p:spPr>
              <a:xfrm>
                <a:off x="3900270" y="2809514"/>
                <a:ext cx="4391459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1−0.1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𝑃𝑒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b="0" i="1" baseline="3000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0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9BE519-A6B2-4C6F-FC20-EE6830AF7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270" y="2809514"/>
                <a:ext cx="4391459" cy="312650"/>
              </a:xfrm>
              <a:prstGeom prst="rect">
                <a:avLst/>
              </a:prstGeom>
              <a:blipFill>
                <a:blip r:embed="rId2"/>
                <a:stretch>
                  <a:fillRect r="-1156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52CF91D-5324-EBC3-66AE-CDDD66805E7B}"/>
              </a:ext>
            </a:extLst>
          </p:cNvPr>
          <p:cNvSpPr txBox="1"/>
          <p:nvPr/>
        </p:nvSpPr>
        <p:spPr>
          <a:xfrm>
            <a:off x="517634" y="1947617"/>
            <a:ext cx="11466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Convective terms are discretized using the power-law scheme, which blends upwind and central differencing based on the Peclet Number (Pe = F/D, where F is convective flux and D is diffusive flux). The co-efficient is: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9C2AE9-9E7A-EBB0-FC89-E0D1C373A69A}"/>
              </a:ext>
            </a:extLst>
          </p:cNvPr>
          <p:cNvSpPr txBox="1"/>
          <p:nvPr/>
        </p:nvSpPr>
        <p:spPr>
          <a:xfrm>
            <a:off x="819807" y="3297320"/>
            <a:ext cx="8370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Where a is the neighbor coefficient. This scheme enhances stability for high Pe.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5CE9F7-00FA-E7E7-74F5-CC4DC4953DB0}"/>
              </a:ext>
            </a:extLst>
          </p:cNvPr>
          <p:cNvSpPr txBox="1"/>
          <p:nvPr/>
        </p:nvSpPr>
        <p:spPr>
          <a:xfrm>
            <a:off x="0" y="4369203"/>
            <a:ext cx="2563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Boundary conditions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9E07AD-F7B3-349B-03F0-94F1483E4522}"/>
              </a:ext>
            </a:extLst>
          </p:cNvPr>
          <p:cNvSpPr txBox="1"/>
          <p:nvPr/>
        </p:nvSpPr>
        <p:spPr>
          <a:xfrm>
            <a:off x="903890" y="4897419"/>
            <a:ext cx="34878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Top wall (y=1): u = </a:t>
            </a:r>
            <a:r>
              <a:rPr lang="en-US" dirty="0" err="1"/>
              <a:t>U</a:t>
            </a:r>
            <a:r>
              <a:rPr lang="en-US" baseline="-25000" dirty="0" err="1"/>
              <a:t>lid</a:t>
            </a:r>
            <a:r>
              <a:rPr lang="en-US" dirty="0"/>
              <a:t> = 1.0, v=0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Other walls (x=0, 1; y=0): u=v=0</a:t>
            </a:r>
          </a:p>
        </p:txBody>
      </p:sp>
    </p:spTree>
    <p:extLst>
      <p:ext uri="{BB962C8B-B14F-4D97-AF65-F5344CB8AC3E}">
        <p14:creationId xmlns:p14="http://schemas.microsoft.com/office/powerpoint/2010/main" val="3652417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F85CB-C439-69DC-9DA8-B69711B88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CBE15-ED91-1B07-FE69-EA0BDF308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C64A-9371-A64F-9B82-EBC50BB3FABD}" type="slidenum">
              <a:rPr lang="en-US" smtClean="0"/>
              <a:t>6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EF22DC-E6B9-6229-9C28-429A08EC98D4}"/>
              </a:ext>
            </a:extLst>
          </p:cNvPr>
          <p:cNvSpPr txBox="1"/>
          <p:nvPr/>
        </p:nvSpPr>
        <p:spPr>
          <a:xfrm>
            <a:off x="218909" y="1287379"/>
            <a:ext cx="1444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 = 100.0</a:t>
            </a:r>
          </a:p>
        </p:txBody>
      </p:sp>
      <p:pic>
        <p:nvPicPr>
          <p:cNvPr id="20" name="Picture 19" descr="A rainbow colored graph with lines and arrows&#10;&#10;Description automatically generated with medium confidence">
            <a:extLst>
              <a:ext uri="{FF2B5EF4-FFF2-40B4-BE49-F238E27FC236}">
                <a16:creationId xmlns:a16="http://schemas.microsoft.com/office/drawing/2014/main" id="{0F628217-EE94-891B-C456-5194B2FFE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32" y="2427628"/>
            <a:ext cx="3972910" cy="2979683"/>
          </a:xfrm>
          <a:prstGeom prst="rect">
            <a:avLst/>
          </a:prstGeom>
        </p:spPr>
      </p:pic>
      <p:pic>
        <p:nvPicPr>
          <p:cNvPr id="22" name="Picture 21" descr="A blue and green chart&#10;&#10;Description automatically generated with medium confidence">
            <a:extLst>
              <a:ext uri="{FF2B5EF4-FFF2-40B4-BE49-F238E27FC236}">
                <a16:creationId xmlns:a16="http://schemas.microsoft.com/office/drawing/2014/main" id="{D9279D10-FB80-E713-0FBE-7BFD28AC3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6179" y="2427627"/>
            <a:ext cx="3972912" cy="2979684"/>
          </a:xfrm>
          <a:prstGeom prst="rect">
            <a:avLst/>
          </a:prstGeom>
        </p:spPr>
      </p:pic>
      <p:pic>
        <p:nvPicPr>
          <p:cNvPr id="24" name="Picture 23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21466E7C-2E11-CC93-96AB-F1E8E6DA4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2460" y="2422369"/>
            <a:ext cx="3972913" cy="297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911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F85CB-C439-69DC-9DA8-B69711B88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CBE15-ED91-1B07-FE69-EA0BDF308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C64A-9371-A64F-9B82-EBC50BB3FABD}" type="slidenum">
              <a:rPr lang="en-US" smtClean="0"/>
              <a:t>7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EF22DC-E6B9-6229-9C28-429A08EC98D4}"/>
              </a:ext>
            </a:extLst>
          </p:cNvPr>
          <p:cNvSpPr txBox="1"/>
          <p:nvPr/>
        </p:nvSpPr>
        <p:spPr>
          <a:xfrm>
            <a:off x="218909" y="1287379"/>
            <a:ext cx="1444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 = 400.0</a:t>
            </a:r>
          </a:p>
        </p:txBody>
      </p:sp>
      <p:pic>
        <p:nvPicPr>
          <p:cNvPr id="26" name="Picture 25" descr="A screenshot of a graph&#10;&#10;Description automatically generated">
            <a:extLst>
              <a:ext uri="{FF2B5EF4-FFF2-40B4-BE49-F238E27FC236}">
                <a16:creationId xmlns:a16="http://schemas.microsoft.com/office/drawing/2014/main" id="{17FC5428-0F47-0408-F779-1CBF354DF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2370"/>
            <a:ext cx="3972912" cy="2979684"/>
          </a:xfrm>
          <a:prstGeom prst="rect">
            <a:avLst/>
          </a:prstGeom>
        </p:spPr>
      </p:pic>
      <p:pic>
        <p:nvPicPr>
          <p:cNvPr id="28" name="Picture 27" descr="A blue and red chart&#10;&#10;Description automatically generated with medium confidence">
            <a:extLst>
              <a:ext uri="{FF2B5EF4-FFF2-40B4-BE49-F238E27FC236}">
                <a16:creationId xmlns:a16="http://schemas.microsoft.com/office/drawing/2014/main" id="{258D9323-342F-4A0C-B4F0-006A8237A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230" y="2422369"/>
            <a:ext cx="3972912" cy="2979684"/>
          </a:xfrm>
          <a:prstGeom prst="rect">
            <a:avLst/>
          </a:prstGeom>
        </p:spPr>
      </p:pic>
      <p:pic>
        <p:nvPicPr>
          <p:cNvPr id="30" name="Picture 29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4250E5CF-B165-2434-DE3C-2BAC89889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2460" y="2422369"/>
            <a:ext cx="3972912" cy="297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212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F85CB-C439-69DC-9DA8-B69711B88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CBE15-ED91-1B07-FE69-EA0BDF308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C64A-9371-A64F-9B82-EBC50BB3FABD}" type="slidenum">
              <a:rPr lang="en-US" smtClean="0"/>
              <a:t>8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EF22DC-E6B9-6229-9C28-429A08EC98D4}"/>
              </a:ext>
            </a:extLst>
          </p:cNvPr>
          <p:cNvSpPr txBox="1"/>
          <p:nvPr/>
        </p:nvSpPr>
        <p:spPr>
          <a:xfrm>
            <a:off x="218909" y="1287379"/>
            <a:ext cx="15872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 = 1000.0</a:t>
            </a:r>
          </a:p>
        </p:txBody>
      </p:sp>
      <p:pic>
        <p:nvPicPr>
          <p:cNvPr id="5" name="Picture 4" descr="A yellow and blue chart with black arrows&#10;&#10;Description automatically generated">
            <a:extLst>
              <a:ext uri="{FF2B5EF4-FFF2-40B4-BE49-F238E27FC236}">
                <a16:creationId xmlns:a16="http://schemas.microsoft.com/office/drawing/2014/main" id="{81B29DB3-2A61-AA3D-66B9-3BAD553EC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2369"/>
            <a:ext cx="3972912" cy="2979684"/>
          </a:xfrm>
          <a:prstGeom prst="rect">
            <a:avLst/>
          </a:prstGeom>
        </p:spPr>
      </p:pic>
      <p:pic>
        <p:nvPicPr>
          <p:cNvPr id="7" name="Picture 6" descr="A blue and red chart&#10;&#10;Description automatically generated with medium confidence">
            <a:extLst>
              <a:ext uri="{FF2B5EF4-FFF2-40B4-BE49-F238E27FC236}">
                <a16:creationId xmlns:a16="http://schemas.microsoft.com/office/drawing/2014/main" id="{5D50E347-41B3-5D96-66E7-4628E401F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230" y="2422369"/>
            <a:ext cx="3972912" cy="2979684"/>
          </a:xfrm>
          <a:prstGeom prst="rect">
            <a:avLst/>
          </a:prstGeom>
        </p:spPr>
      </p:pic>
      <p:pic>
        <p:nvPicPr>
          <p:cNvPr id="9" name="Picture 8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58D48437-E104-2FAA-4C44-8CC25D8688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2460" y="2422369"/>
            <a:ext cx="3972912" cy="297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590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B69B6-E125-354D-6701-A1E64458A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Centerline U-velocity Comparison with Ghia et, 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05A12-B362-790E-2BF2-FC52C5592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C64A-9371-A64F-9B82-EBC50BB3FABD}" type="slidenum">
              <a:rPr lang="en-US" smtClean="0"/>
              <a:t>9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E0FAD3-1561-2E54-CCA8-FF21E865232A}"/>
              </a:ext>
            </a:extLst>
          </p:cNvPr>
          <p:cNvSpPr txBox="1"/>
          <p:nvPr/>
        </p:nvSpPr>
        <p:spPr>
          <a:xfrm>
            <a:off x="1364536" y="1646951"/>
            <a:ext cx="1444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 = 100.0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D9A597-AB77-F221-CEC4-B98113C8E814}"/>
              </a:ext>
            </a:extLst>
          </p:cNvPr>
          <p:cNvSpPr txBox="1"/>
          <p:nvPr/>
        </p:nvSpPr>
        <p:spPr>
          <a:xfrm>
            <a:off x="5373687" y="1644495"/>
            <a:ext cx="1444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 = 400.0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E37C09-4078-8AF9-11CD-C5BDB9783002}"/>
              </a:ext>
            </a:extLst>
          </p:cNvPr>
          <p:cNvSpPr txBox="1"/>
          <p:nvPr/>
        </p:nvSpPr>
        <p:spPr>
          <a:xfrm>
            <a:off x="9240170" y="1646951"/>
            <a:ext cx="15872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 = 1000.0</a:t>
            </a:r>
          </a:p>
        </p:txBody>
      </p:sp>
      <p:pic>
        <p:nvPicPr>
          <p:cNvPr id="21" name="Picture 20" descr="A graph with a blue line and orange dots&#10;&#10;Description automatically generated">
            <a:extLst>
              <a:ext uri="{FF2B5EF4-FFF2-40B4-BE49-F238E27FC236}">
                <a16:creationId xmlns:a16="http://schemas.microsoft.com/office/drawing/2014/main" id="{FD20C7EF-FD26-18A9-1CD0-4A737E790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22" y="2304712"/>
            <a:ext cx="3699669" cy="3083057"/>
          </a:xfrm>
          <a:prstGeom prst="rect">
            <a:avLst/>
          </a:prstGeom>
        </p:spPr>
      </p:pic>
      <p:pic>
        <p:nvPicPr>
          <p:cNvPr id="23" name="Picture 22" descr="A graph with a line and dots&#10;&#10;Description automatically generated">
            <a:extLst>
              <a:ext uri="{FF2B5EF4-FFF2-40B4-BE49-F238E27FC236}">
                <a16:creationId xmlns:a16="http://schemas.microsoft.com/office/drawing/2014/main" id="{98EC944C-58D4-E676-08EE-4B5BB0497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531" y="2304711"/>
            <a:ext cx="3699669" cy="3083057"/>
          </a:xfrm>
          <a:prstGeom prst="rect">
            <a:avLst/>
          </a:prstGeom>
        </p:spPr>
      </p:pic>
      <p:pic>
        <p:nvPicPr>
          <p:cNvPr id="25" name="Picture 24" descr="A graph with a line and dots&#10;&#10;Description automatically generated">
            <a:extLst>
              <a:ext uri="{FF2B5EF4-FFF2-40B4-BE49-F238E27FC236}">
                <a16:creationId xmlns:a16="http://schemas.microsoft.com/office/drawing/2014/main" id="{B9113FA7-A27A-B119-9FFC-6D15C22B7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3140" y="2304710"/>
            <a:ext cx="3699669" cy="308305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3A7A47F-C919-C518-FBB4-364CE34AB295}"/>
              </a:ext>
            </a:extLst>
          </p:cNvPr>
          <p:cNvSpPr txBox="1"/>
          <p:nvPr/>
        </p:nvSpPr>
        <p:spPr>
          <a:xfrm>
            <a:off x="0" y="6462768"/>
            <a:ext cx="11290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Ghia, U., Ghia, K. N., &amp; Shin, C. T. (1982). High-Re solutions for incompressible flow using the Navier-Stokes equations and a multigrid method. Journal of Computational Physics, 48(3), 387–411.</a:t>
            </a:r>
          </a:p>
        </p:txBody>
      </p:sp>
    </p:spTree>
    <p:extLst>
      <p:ext uri="{BB962C8B-B14F-4D97-AF65-F5344CB8AC3E}">
        <p14:creationId xmlns:p14="http://schemas.microsoft.com/office/powerpoint/2010/main" val="3380369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B69B6-E125-354D-6701-A1E64458A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Centerline V-velocity Comparison with Ghia et, 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05A12-B362-790E-2BF2-FC52C5592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C64A-9371-A64F-9B82-EBC50BB3FABD}" type="slidenum">
              <a:rPr lang="en-US" smtClean="0"/>
              <a:t>10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E0FAD3-1561-2E54-CCA8-FF21E865232A}"/>
              </a:ext>
            </a:extLst>
          </p:cNvPr>
          <p:cNvSpPr txBox="1"/>
          <p:nvPr/>
        </p:nvSpPr>
        <p:spPr>
          <a:xfrm>
            <a:off x="1364536" y="1646951"/>
            <a:ext cx="1444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 = 100.0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D9A597-AB77-F221-CEC4-B98113C8E814}"/>
              </a:ext>
            </a:extLst>
          </p:cNvPr>
          <p:cNvSpPr txBox="1"/>
          <p:nvPr/>
        </p:nvSpPr>
        <p:spPr>
          <a:xfrm>
            <a:off x="5373687" y="1644495"/>
            <a:ext cx="1444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 = 400.0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E37C09-4078-8AF9-11CD-C5BDB9783002}"/>
              </a:ext>
            </a:extLst>
          </p:cNvPr>
          <p:cNvSpPr txBox="1"/>
          <p:nvPr/>
        </p:nvSpPr>
        <p:spPr>
          <a:xfrm>
            <a:off x="8870099" y="1652549"/>
            <a:ext cx="15872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 = 1000.0</a:t>
            </a:r>
          </a:p>
        </p:txBody>
      </p:sp>
      <p:pic>
        <p:nvPicPr>
          <p:cNvPr id="5" name="Picture 4" descr="A graph with blue lines and orange dots&#10;&#10;Description automatically generated">
            <a:extLst>
              <a:ext uri="{FF2B5EF4-FFF2-40B4-BE49-F238E27FC236}">
                <a16:creationId xmlns:a16="http://schemas.microsoft.com/office/drawing/2014/main" id="{09D5D525-B763-C821-C26E-2B6460288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14" y="2304711"/>
            <a:ext cx="3699670" cy="3083058"/>
          </a:xfrm>
          <a:prstGeom prst="rect">
            <a:avLst/>
          </a:prstGeom>
        </p:spPr>
      </p:pic>
      <p:pic>
        <p:nvPicPr>
          <p:cNvPr id="7" name="Picture 6" descr="A graph with blue lines and orange dots&#10;&#10;Description automatically generated">
            <a:extLst>
              <a:ext uri="{FF2B5EF4-FFF2-40B4-BE49-F238E27FC236}">
                <a16:creationId xmlns:a16="http://schemas.microsoft.com/office/drawing/2014/main" id="{CDD71657-98FD-92F3-C8F2-43AF6DD19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5462" y="2304710"/>
            <a:ext cx="3699671" cy="3083059"/>
          </a:xfrm>
          <a:prstGeom prst="rect">
            <a:avLst/>
          </a:prstGeom>
        </p:spPr>
      </p:pic>
      <p:pic>
        <p:nvPicPr>
          <p:cNvPr id="9" name="Picture 8" descr="A graph with orange dots and a blue line&#10;&#10;Description automatically generated">
            <a:extLst>
              <a:ext uri="{FF2B5EF4-FFF2-40B4-BE49-F238E27FC236}">
                <a16:creationId xmlns:a16="http://schemas.microsoft.com/office/drawing/2014/main" id="{72B35211-5BA9-3BDE-5226-080CEAF8E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3911" y="2304710"/>
            <a:ext cx="3699670" cy="30830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E10DAEA-822E-4455-B116-A8C6D8302747}"/>
              </a:ext>
            </a:extLst>
          </p:cNvPr>
          <p:cNvSpPr txBox="1"/>
          <p:nvPr/>
        </p:nvSpPr>
        <p:spPr>
          <a:xfrm>
            <a:off x="0" y="6462768"/>
            <a:ext cx="112907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Ghia, U., Ghia, K. N., &amp; Shin, C. T. (1982). High-Re solutions for incompressible flow using the Navier-Stokes equations and a multigrid method. Journal of Computational Physics, 48(3), 387–411.</a:t>
            </a:r>
          </a:p>
        </p:txBody>
      </p:sp>
    </p:spTree>
    <p:extLst>
      <p:ext uri="{BB962C8B-B14F-4D97-AF65-F5344CB8AC3E}">
        <p14:creationId xmlns:p14="http://schemas.microsoft.com/office/powerpoint/2010/main" val="2547111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U_template" id="{C97C1DF4-7E78-C045-AEC3-40F95A75F803}" vid="{0251ACD0-9429-4447-811E-8EF3E9F989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2003</TotalTime>
  <Words>512</Words>
  <Application>Microsoft Macintosh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Overview of the problem</vt:lpstr>
      <vt:lpstr>Numerical Methods</vt:lpstr>
      <vt:lpstr>Numerical Methods</vt:lpstr>
      <vt:lpstr>Numerical Methods</vt:lpstr>
      <vt:lpstr>Results</vt:lpstr>
      <vt:lpstr>Results</vt:lpstr>
      <vt:lpstr>Results</vt:lpstr>
      <vt:lpstr>Centerline U-velocity Comparison with Ghia et, al.</vt:lpstr>
      <vt:lpstr>Centerline V-velocity Comparison with Ghia et, al.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Saha, Ranabir [M E]</dc:creator>
  <cp:lastModifiedBy>Saha, Ranabir [M E]</cp:lastModifiedBy>
  <cp:revision>76</cp:revision>
  <dcterms:created xsi:type="dcterms:W3CDTF">2025-04-27T22:21:24Z</dcterms:created>
  <dcterms:modified xsi:type="dcterms:W3CDTF">2025-05-13T22:44:38Z</dcterms:modified>
</cp:coreProperties>
</file>